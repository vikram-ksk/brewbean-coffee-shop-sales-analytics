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1" r:id="rId5"/>
    <p:sldId id="263" r:id="rId6"/>
    <p:sldId id="264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5033" autoAdjust="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C37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1645920"/>
            <a:ext cx="106070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8F0"/>
                </a:solidFill>
              </a:defRPr>
            </a:pPr>
            <a:r>
              <a:t>BrewBean Coffee Shop Sales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971800"/>
            <a:ext cx="102412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>
                <a:solidFill>
                  <a:srgbClr val="F5E8D8"/>
                </a:solidFill>
              </a:defRPr>
            </a:pPr>
            <a:r>
              <a:t>Excel Business Analytics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4433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C371F"/>
                </a:solidFill>
              </a:defRPr>
            </a:pPr>
            <a:r>
              <a:rPr dirty="0"/>
              <a:t>1. Business Problem &amp; 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38692"/>
            <a:ext cx="10607040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7302B"/>
                </a:solidFill>
              </a:defRPr>
            </a:pPr>
            <a:r>
              <a:rPr sz="1600" dirty="0" err="1"/>
              <a:t>BrewBean</a:t>
            </a:r>
            <a:r>
              <a:rPr sz="1600" dirty="0"/>
              <a:t> Caf</a:t>
            </a:r>
            <a:r>
              <a:rPr lang="en-US" sz="1600" dirty="0"/>
              <a:t>e</a:t>
            </a:r>
            <a:r>
              <a:rPr sz="1600" dirty="0"/>
              <a:t> operates multiple coffee shop outlets across Tamil Nadu.</a:t>
            </a:r>
          </a:p>
          <a:p>
            <a:pPr>
              <a:spcAft>
                <a:spcPts val="1200"/>
              </a:spcAft>
              <a:defRPr sz="1800">
                <a:solidFill>
                  <a:srgbClr val="37302B"/>
                </a:solidFill>
              </a:defRPr>
            </a:pPr>
            <a:r>
              <a:rPr sz="1600" dirty="0"/>
              <a:t>Business challenges: inconsistent sales, varying outlet performance, peak-hour congestion and fluctuating profitability.</a:t>
            </a:r>
          </a:p>
          <a:p>
            <a:pPr>
              <a:spcAft>
                <a:spcPts val="1200"/>
              </a:spcAft>
              <a:defRPr sz="1800">
                <a:solidFill>
                  <a:srgbClr val="37302B"/>
                </a:solidFill>
              </a:defRPr>
            </a:pPr>
            <a:r>
              <a:rPr sz="1600" dirty="0"/>
              <a:t>Objective: analyze revenue trends, outlet performance, customer </a:t>
            </a:r>
            <a:r>
              <a:rPr sz="1600" dirty="0" err="1"/>
              <a:t>behaviour</a:t>
            </a:r>
            <a:r>
              <a:rPr sz="1600" dirty="0"/>
              <a:t>, product performance and promotional effectiveness.</a:t>
            </a:r>
          </a:p>
          <a:p>
            <a:pPr>
              <a:spcAft>
                <a:spcPts val="1200"/>
              </a:spcAft>
              <a:defRPr sz="1800">
                <a:solidFill>
                  <a:srgbClr val="37302B"/>
                </a:solidFill>
              </a:defRPr>
            </a:pPr>
            <a:r>
              <a:rPr sz="1600" dirty="0"/>
              <a:t>Goal: provide evidence-based recommendations to improve sales, profitability and customer satisfaction.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045700-C7C3-C4BD-A124-28F58D1D2B5A}"/>
              </a:ext>
            </a:extLst>
          </p:cNvPr>
          <p:cNvSpPr txBox="1"/>
          <p:nvPr/>
        </p:nvSpPr>
        <p:spPr>
          <a:xfrm>
            <a:off x="457200" y="3054683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C371F"/>
                </a:solidFill>
              </a:defRPr>
            </a:pPr>
            <a:r>
              <a:rPr dirty="0"/>
              <a:t>2. Data Sources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1B22C34-DBCD-AFAD-8195-306F55FAF9C9}"/>
              </a:ext>
            </a:extLst>
          </p:cNvPr>
          <p:cNvSpPr txBox="1"/>
          <p:nvPr/>
        </p:nvSpPr>
        <p:spPr>
          <a:xfrm>
            <a:off x="822960" y="3747180"/>
            <a:ext cx="10607040" cy="218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rgbClr val="37302B"/>
                </a:solidFill>
              </a:defRPr>
            </a:pPr>
            <a:r>
              <a:rPr sz="1600" dirty="0"/>
              <a:t>Sales Transactions — transaction-level sales, customers, products, revenue, profit, payment mode, promotions, ratings and order status.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rgbClr val="37302B"/>
                </a:solidFill>
              </a:defRPr>
            </a:pPr>
            <a:r>
              <a:rPr sz="1600" dirty="0"/>
              <a:t>Inventory — opening stock, received stock, units sold, closing stock, wastage and reorder information.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rgbClr val="37302B"/>
                </a:solidFill>
              </a:defRPr>
            </a:pPr>
            <a:r>
              <a:rPr sz="1600" dirty="0"/>
              <a:t>Product Master — product, category, size, cost price, selling price, margin, supplier and shelf life.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rgbClr val="37302B"/>
                </a:solidFill>
              </a:defRPr>
            </a:pPr>
            <a:r>
              <a:rPr sz="1600" dirty="0"/>
              <a:t>Outlet Master — outlet, city, district, seating capacity, employees, targets, rent and operating information.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rgbClr val="37302B"/>
                </a:solidFill>
              </a:defRPr>
            </a:pPr>
            <a:r>
              <a:rPr sz="1600" dirty="0"/>
              <a:t>Promotions — campaign, dates, discount, applicable category/outlets, expected sales increase and business objective.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243529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C371F"/>
                </a:solidFill>
              </a:defRPr>
            </a:pPr>
            <a:r>
              <a:rPr dirty="0"/>
              <a:t>3. Data Cleaning 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75360" y="837889"/>
            <a:ext cx="10607040" cy="2831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rgbClr val="37302B"/>
                </a:solidFill>
              </a:defRPr>
            </a:pPr>
            <a:r>
              <a:rPr sz="1600" dirty="0"/>
              <a:t>Created separate Raw and Cleaned sheets for Sales, Inventory, Product, Outlet and Promotions.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rgbClr val="37302B"/>
                </a:solidFill>
              </a:defRPr>
            </a:pPr>
            <a:r>
              <a:rPr sz="1600" dirty="0"/>
              <a:t>Sales: removed duplicate </a:t>
            </a:r>
            <a:r>
              <a:rPr sz="1600" dirty="0" err="1"/>
              <a:t>Transaction_ID</a:t>
            </a:r>
            <a:r>
              <a:rPr sz="1600" dirty="0"/>
              <a:t> records; restored the valid unique transaction so the cleaned dataset contains 800 transactions.</a:t>
            </a:r>
            <a:r>
              <a:rPr lang="en-US" sz="1600" dirty="0"/>
              <a:t> 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rgbClr val="37302B"/>
                </a:solidFill>
              </a:defRPr>
            </a:pPr>
            <a:r>
              <a:rPr sz="1600" dirty="0"/>
              <a:t>Filled blank Membership values with 'Non-Member'; standardized Payment Mode values such as </a:t>
            </a:r>
            <a:r>
              <a:rPr sz="1600" dirty="0" err="1"/>
              <a:t>GooglePay</a:t>
            </a:r>
            <a:r>
              <a:rPr sz="1600" dirty="0"/>
              <a:t>/</a:t>
            </a:r>
            <a:r>
              <a:rPr sz="1600" dirty="0" err="1"/>
              <a:t>GPay</a:t>
            </a:r>
            <a:r>
              <a:rPr sz="1600" dirty="0"/>
              <a:t> to 'Google Pay’.</a:t>
            </a:r>
            <a:r>
              <a:rPr lang="en-US" sz="1600" dirty="0"/>
              <a:t> 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rgbClr val="37302B"/>
                </a:solidFill>
              </a:defRPr>
            </a:pPr>
            <a:r>
              <a:rPr sz="1600" dirty="0"/>
              <a:t>Standardized </a:t>
            </a:r>
            <a:r>
              <a:rPr sz="1600" dirty="0" err="1"/>
              <a:t>Transaction_Date</a:t>
            </a:r>
            <a:r>
              <a:rPr sz="1600" dirty="0"/>
              <a:t> using Date/DMY conversion; checked Quantity, Selling Price, Revenue and Profit.</a:t>
            </a:r>
            <a:endParaRPr lang="en-US" sz="1600" dirty="0"/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rgbClr val="37302B"/>
                </a:solidFill>
              </a:defRPr>
            </a:pPr>
            <a:r>
              <a:rPr lang="en-US" sz="1600" dirty="0"/>
              <a:t> </a:t>
            </a:r>
            <a:r>
              <a:rPr sz="1600" dirty="0"/>
              <a:t>Kept </a:t>
            </a:r>
            <a:r>
              <a:rPr sz="1600" dirty="0" err="1"/>
              <a:t>Customer_Rating</a:t>
            </a:r>
            <a:r>
              <a:rPr sz="1600" dirty="0"/>
              <a:t> blanks because ratings were optional/missing rather than inventing values.</a:t>
            </a:r>
            <a:endParaRPr lang="en-US" sz="1600" dirty="0"/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rgbClr val="37302B"/>
                </a:solidFill>
              </a:defRPr>
            </a:pPr>
            <a:r>
              <a:rPr lang="en-US" sz="1600" dirty="0"/>
              <a:t> </a:t>
            </a:r>
            <a:r>
              <a:rPr sz="1600" dirty="0"/>
              <a:t>C</a:t>
            </a:r>
            <a:r>
              <a:rPr lang="en-US" sz="1600" dirty="0"/>
              <a:t>r</a:t>
            </a:r>
            <a:r>
              <a:rPr sz="1600" dirty="0"/>
              <a:t>eated </a:t>
            </a:r>
            <a:r>
              <a:rPr sz="1600" dirty="0" err="1"/>
              <a:t>Sales_Valid</a:t>
            </a:r>
            <a:r>
              <a:rPr sz="1600" dirty="0"/>
              <a:t> to distinguish Completed and Cancelled transactions for reliable sales KPIs.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76A861-14B7-A8B1-69BC-0A8A66212DB6}"/>
              </a:ext>
            </a:extLst>
          </p:cNvPr>
          <p:cNvSpPr txBox="1"/>
          <p:nvPr/>
        </p:nvSpPr>
        <p:spPr>
          <a:xfrm>
            <a:off x="975360" y="4808164"/>
            <a:ext cx="1060704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7302B"/>
                </a:solidFill>
              </a:defRPr>
            </a:pPr>
            <a:r>
              <a:rPr sz="1600" dirty="0"/>
              <a:t>Sales Transactions — transaction-level sales, customers, products, revenue, profit, payment mode, promotions, ratings and order status.</a:t>
            </a:r>
            <a:r>
              <a:rPr lang="en-US" sz="1600" dirty="0"/>
              <a:t> I</a:t>
            </a:r>
            <a:r>
              <a:rPr sz="1600" dirty="0"/>
              <a:t>nventory — opening stock, received stock, units sold, closing stock, wastage and reorder information.</a:t>
            </a:r>
            <a:r>
              <a:rPr lang="en-US" sz="1600" dirty="0"/>
              <a:t> </a:t>
            </a:r>
            <a:r>
              <a:rPr sz="1600" dirty="0"/>
              <a:t>Product Master — product, category, size, cost price, selling price, margin, supplier and shelf life.</a:t>
            </a:r>
          </a:p>
          <a:p>
            <a:pPr>
              <a:spcAft>
                <a:spcPts val="1200"/>
              </a:spcAft>
              <a:defRPr sz="1800">
                <a:solidFill>
                  <a:srgbClr val="37302B"/>
                </a:solidFill>
              </a:defRPr>
            </a:pPr>
            <a:r>
              <a:rPr sz="1600" dirty="0"/>
              <a:t>Outlet Master — outlet, city, district, seating capacity, employees, targets, rent and operating information.</a:t>
            </a:r>
          </a:p>
          <a:p>
            <a:pPr>
              <a:spcAft>
                <a:spcPts val="1200"/>
              </a:spcAft>
              <a:defRPr sz="1800">
                <a:solidFill>
                  <a:srgbClr val="37302B"/>
                </a:solidFill>
              </a:defRPr>
            </a:pPr>
            <a:r>
              <a:rPr sz="1600" dirty="0"/>
              <a:t>Promotions — campaign, dates, discount, applicable category/outlets, expected sales increase and business objective.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994093-9DBC-2016-B7B9-A42F38176214}"/>
              </a:ext>
            </a:extLst>
          </p:cNvPr>
          <p:cNvSpPr txBox="1"/>
          <p:nvPr/>
        </p:nvSpPr>
        <p:spPr>
          <a:xfrm>
            <a:off x="609600" y="4028959"/>
            <a:ext cx="400827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C371F"/>
                </a:solidFill>
              </a:defRPr>
            </a:pPr>
            <a:r>
              <a:rPr lang="en-US" dirty="0"/>
              <a:t>4. Data Quality Validation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196875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C371F"/>
                </a:solidFill>
              </a:defRPr>
            </a:pPr>
            <a:r>
              <a:t>5. Data Model &amp; Relationships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480" y="782122"/>
            <a:ext cx="10607040" cy="218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rgbClr val="37302B"/>
                </a:solidFill>
              </a:defRPr>
            </a:pPr>
            <a:r>
              <a:rPr sz="1600" dirty="0"/>
              <a:t>Product → Sales relationship: Cleaned_Product_Table[</a:t>
            </a:r>
            <a:r>
              <a:rPr sz="1600" dirty="0" err="1"/>
              <a:t>Product_ID</a:t>
            </a:r>
            <a:r>
              <a:rPr sz="1600" dirty="0"/>
              <a:t>]</a:t>
            </a:r>
            <a:r>
              <a:rPr lang="en-US" sz="1600" dirty="0"/>
              <a:t> (1)</a:t>
            </a:r>
            <a:r>
              <a:rPr sz="1600" dirty="0"/>
              <a:t> to </a:t>
            </a:r>
            <a:r>
              <a:rPr sz="1600" dirty="0" err="1"/>
              <a:t>Cleaned_Sales_Table</a:t>
            </a:r>
            <a:r>
              <a:rPr sz="1600" dirty="0"/>
              <a:t>[</a:t>
            </a:r>
            <a:r>
              <a:rPr sz="1600" dirty="0" err="1"/>
              <a:t>Product_ID</a:t>
            </a:r>
            <a:r>
              <a:rPr sz="1600" dirty="0"/>
              <a:t>] (*).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rgbClr val="37302B"/>
                </a:solidFill>
              </a:defRPr>
            </a:pPr>
            <a:r>
              <a:rPr sz="1600" dirty="0"/>
              <a:t>Outlet → Sales relationship: </a:t>
            </a:r>
            <a:r>
              <a:rPr sz="1600" dirty="0" err="1"/>
              <a:t>Cleaned_Outlet_Table</a:t>
            </a:r>
            <a:r>
              <a:rPr sz="1600" dirty="0"/>
              <a:t>[</a:t>
            </a:r>
            <a:r>
              <a:rPr sz="1600" dirty="0" err="1"/>
              <a:t>Outlet_ID</a:t>
            </a:r>
            <a:r>
              <a:rPr sz="1600" dirty="0"/>
              <a:t>] </a:t>
            </a:r>
            <a:r>
              <a:rPr lang="en-US" sz="1600" dirty="0"/>
              <a:t>(1) </a:t>
            </a:r>
            <a:r>
              <a:rPr sz="1600" dirty="0"/>
              <a:t>to </a:t>
            </a:r>
            <a:r>
              <a:rPr sz="1600" dirty="0" err="1"/>
              <a:t>Cleaned_Sales_Table</a:t>
            </a:r>
            <a:r>
              <a:rPr sz="1600" dirty="0"/>
              <a:t>[</a:t>
            </a:r>
            <a:r>
              <a:rPr sz="1600" dirty="0" err="1"/>
              <a:t>Outlet_ID</a:t>
            </a:r>
            <a:r>
              <a:rPr sz="1600" dirty="0"/>
              <a:t>] (*).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rgbClr val="37302B"/>
                </a:solidFill>
              </a:defRPr>
            </a:pPr>
            <a:r>
              <a:rPr sz="1600" dirty="0"/>
              <a:t>Product → Inventory relationship: Cleaned_Product_Table[</a:t>
            </a:r>
            <a:r>
              <a:rPr sz="1600" dirty="0" err="1"/>
              <a:t>Product_ID</a:t>
            </a:r>
            <a:r>
              <a:rPr sz="1600" dirty="0"/>
              <a:t>] (1) to </a:t>
            </a:r>
            <a:r>
              <a:rPr sz="1600" dirty="0" err="1"/>
              <a:t>Cleaned_Inventory_Table</a:t>
            </a:r>
            <a:r>
              <a:rPr sz="1600" dirty="0"/>
              <a:t>[</a:t>
            </a:r>
            <a:r>
              <a:rPr sz="1600" dirty="0" err="1"/>
              <a:t>Product_ID</a:t>
            </a:r>
            <a:r>
              <a:rPr sz="1600" dirty="0"/>
              <a:t>] (*).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rgbClr val="37302B"/>
                </a:solidFill>
              </a:defRPr>
            </a:pPr>
            <a:r>
              <a:rPr sz="1600" dirty="0"/>
              <a:t>Outlet → Inventory relationship: </a:t>
            </a:r>
            <a:r>
              <a:rPr sz="1600" dirty="0" err="1"/>
              <a:t>Cleaned_Outlet_Table</a:t>
            </a:r>
            <a:r>
              <a:rPr sz="1600" dirty="0"/>
              <a:t>[</a:t>
            </a:r>
            <a:r>
              <a:rPr sz="1600" dirty="0" err="1"/>
              <a:t>Outlet_ID</a:t>
            </a:r>
            <a:r>
              <a:rPr sz="1600" dirty="0"/>
              <a:t>] (1) to </a:t>
            </a:r>
            <a:r>
              <a:rPr sz="1600" dirty="0" err="1"/>
              <a:t>Cleaned_Inventory_Table</a:t>
            </a:r>
            <a:r>
              <a:rPr sz="1600" dirty="0"/>
              <a:t>[</a:t>
            </a:r>
            <a:r>
              <a:rPr sz="1600" dirty="0" err="1"/>
              <a:t>Outlet_ID</a:t>
            </a:r>
            <a:r>
              <a:rPr sz="1600" dirty="0"/>
              <a:t>] (*).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rgbClr val="37302B"/>
                </a:solidFill>
              </a:defRPr>
            </a:pPr>
            <a:r>
              <a:rPr sz="1600" dirty="0"/>
              <a:t>Promotions were not directly related because </a:t>
            </a:r>
            <a:r>
              <a:rPr sz="1600" dirty="0" err="1"/>
              <a:t>Applicable_Outlets</a:t>
            </a:r>
            <a:r>
              <a:rPr sz="1600" dirty="0"/>
              <a:t> could contain multi-value applicability and campaign usage was incomplete.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A292CA-1631-0C94-9A8B-500CB8A7DDC4}"/>
              </a:ext>
            </a:extLst>
          </p:cNvPr>
          <p:cNvSpPr txBox="1"/>
          <p:nvPr/>
        </p:nvSpPr>
        <p:spPr>
          <a:xfrm>
            <a:off x="640080" y="2967336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C371F"/>
                </a:solidFill>
              </a:defRPr>
            </a:pPr>
            <a:r>
              <a:rPr dirty="0"/>
              <a:t>6. Analysis Process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527696-5DD5-1B9E-0D71-A7B0144D4062}"/>
              </a:ext>
            </a:extLst>
          </p:cNvPr>
          <p:cNvSpPr txBox="1"/>
          <p:nvPr/>
        </p:nvSpPr>
        <p:spPr>
          <a:xfrm>
            <a:off x="792480" y="3633638"/>
            <a:ext cx="9143222" cy="2831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7302B"/>
                </a:solidFill>
              </a:defRPr>
            </a:pPr>
            <a:r>
              <a:rPr lang="en-US" sz="1600" dirty="0"/>
              <a:t>Used PivotTables with </a:t>
            </a:r>
            <a:r>
              <a:rPr lang="en-US" sz="1600" dirty="0" err="1"/>
              <a:t>Sales_Valid</a:t>
            </a:r>
            <a:r>
              <a:rPr lang="en-US" sz="1600" dirty="0"/>
              <a:t> = Yes ,so cancelled transactions were excluded from sales KPIs.</a:t>
            </a:r>
          </a:p>
          <a:p>
            <a:pPr>
              <a:spcAft>
                <a:spcPts val="1200"/>
              </a:spcAft>
              <a:defRPr sz="1800">
                <a:solidFill>
                  <a:srgbClr val="37302B"/>
                </a:solidFill>
              </a:defRPr>
            </a:pPr>
            <a:r>
              <a:rPr lang="en-US" sz="1600" dirty="0"/>
              <a:t>BQ1: </a:t>
            </a:r>
            <a:r>
              <a:rPr lang="en-US" sz="1600" dirty="0" err="1"/>
              <a:t>Outlet_Name</a:t>
            </a:r>
            <a:r>
              <a:rPr lang="en-US" sz="1600" dirty="0"/>
              <a:t> vs Revenue and Profit.</a:t>
            </a:r>
          </a:p>
          <a:p>
            <a:pPr>
              <a:spcAft>
                <a:spcPts val="1200"/>
              </a:spcAft>
              <a:defRPr sz="1800">
                <a:solidFill>
                  <a:srgbClr val="37302B"/>
                </a:solidFill>
              </a:defRPr>
            </a:pPr>
            <a:r>
              <a:rPr lang="en-US" sz="1600" dirty="0"/>
              <a:t>BQ2: </a:t>
            </a:r>
            <a:r>
              <a:rPr lang="en-US" sz="1600" dirty="0" err="1"/>
              <a:t>Product_Name</a:t>
            </a:r>
            <a:r>
              <a:rPr lang="en-US" sz="1600" dirty="0"/>
              <a:t> vs Quantity, filtered to Top 5 products.</a:t>
            </a:r>
          </a:p>
          <a:p>
            <a:pPr>
              <a:spcAft>
                <a:spcPts val="1200"/>
              </a:spcAft>
              <a:defRPr sz="1800">
                <a:solidFill>
                  <a:srgbClr val="37302B"/>
                </a:solidFill>
              </a:defRPr>
            </a:pPr>
            <a:r>
              <a:rPr lang="en-US" sz="1600" dirty="0"/>
              <a:t>BQ3: Created </a:t>
            </a:r>
            <a:r>
              <a:rPr lang="en-US" sz="1600" dirty="0" err="1"/>
              <a:t>Transaction_Hour</a:t>
            </a:r>
            <a:r>
              <a:rPr lang="en-US" sz="1600" dirty="0"/>
              <a:t> using HOUR(</a:t>
            </a:r>
            <a:r>
              <a:rPr lang="en-US" sz="1600" dirty="0" err="1"/>
              <a:t>Transaction_Time</a:t>
            </a:r>
            <a:r>
              <a:rPr lang="en-US" sz="1600" dirty="0"/>
              <a:t>), then analyzed transaction count by hour.</a:t>
            </a:r>
          </a:p>
          <a:p>
            <a:pPr>
              <a:spcAft>
                <a:spcPts val="1200"/>
              </a:spcAft>
              <a:defRPr sz="1800">
                <a:solidFill>
                  <a:srgbClr val="37302B"/>
                </a:solidFill>
              </a:defRPr>
            </a:pPr>
            <a:r>
              <a:rPr lang="en-US" sz="1600" dirty="0"/>
              <a:t>BQ4: Promotion vs Revenue; BQ5: Membership vs Revenue; BQ6: </a:t>
            </a:r>
            <a:r>
              <a:rPr lang="en-US" sz="1600" dirty="0" err="1"/>
              <a:t>Payment_Mode</a:t>
            </a:r>
            <a:r>
              <a:rPr lang="en-US" sz="1600" dirty="0"/>
              <a:t> vs completed transaction count.</a:t>
            </a:r>
          </a:p>
          <a:p>
            <a:pPr>
              <a:spcAft>
                <a:spcPts val="1200"/>
              </a:spcAft>
              <a:defRPr sz="1800">
                <a:solidFill>
                  <a:srgbClr val="37302B"/>
                </a:solidFill>
              </a:defRPr>
            </a:pPr>
            <a:r>
              <a:rPr lang="en-US" sz="1600" dirty="0"/>
              <a:t>BQ7: </a:t>
            </a:r>
            <a:r>
              <a:rPr lang="en-US" sz="1600" dirty="0" err="1"/>
              <a:t>Product_Name</a:t>
            </a:r>
            <a:r>
              <a:rPr lang="en-US" sz="1600" dirty="0"/>
              <a:t> vs Average </a:t>
            </a:r>
            <a:r>
              <a:rPr lang="en-US" sz="1600" dirty="0" err="1"/>
              <a:t>Customer_Rating</a:t>
            </a:r>
            <a:r>
              <a:rPr lang="en-US" sz="1600" dirty="0"/>
              <a:t>; BQ8: outlet performance to identify operational priorities.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C371F"/>
                </a:solidFill>
              </a:defRPr>
            </a:pPr>
            <a:r>
              <a:t>7. Dashboard Development 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60704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7302B"/>
                </a:solidFill>
              </a:defRPr>
            </a:pPr>
            <a:r>
              <a:rPr sz="1400" dirty="0"/>
              <a:t>Added KPI cards: Total Revenue ₹222,741.32; Total Profit ₹133,141.32; Completed Transactions 613.Added charts for Outlet Revenue &amp; Profit, Top 5 Products, Transactions by Hour, Promotion Revenue, Membership Revenue, Payment Method Usage and Top 5 Rated Products.</a:t>
            </a:r>
            <a:r>
              <a:rPr lang="en-US" sz="1400" dirty="0"/>
              <a:t> </a:t>
            </a:r>
            <a:r>
              <a:rPr sz="1400" dirty="0"/>
              <a:t>Added an </a:t>
            </a:r>
            <a:r>
              <a:rPr sz="1400" dirty="0" err="1"/>
              <a:t>Outlet_Name</a:t>
            </a:r>
            <a:r>
              <a:rPr sz="1400" dirty="0"/>
              <a:t> slicer and connected it to relevant PivotTables to make the dashboard interactive.</a:t>
            </a:r>
            <a:r>
              <a:rPr lang="en-US" sz="1400" dirty="0"/>
              <a:t> </a:t>
            </a:r>
            <a:r>
              <a:rPr sz="1400" dirty="0"/>
              <a:t>Formatted chart titles, layout, gridlines and dashboard presentation for stakeholder use.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57035A-D250-6BFB-CF18-ACB76C0B9D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0391" y="2417147"/>
            <a:ext cx="9871218" cy="413531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C371F"/>
                </a:solidFill>
              </a:defRPr>
            </a:pPr>
            <a:r>
              <a:t>8. Key Business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80866"/>
            <a:ext cx="10607040" cy="2739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rgbClr val="37302B"/>
                </a:solidFill>
              </a:defRPr>
            </a:pPr>
            <a:r>
              <a:rPr sz="1600" dirty="0" err="1"/>
              <a:t>Peelamedu</a:t>
            </a:r>
            <a:r>
              <a:rPr sz="1600" dirty="0"/>
              <a:t> is the highest-revenue and highest-profit outlet: ₹28,311.16 revenue and ₹17,504.16 profit.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rgbClr val="37302B"/>
                </a:solidFill>
              </a:defRPr>
            </a:pPr>
            <a:r>
              <a:rPr sz="1600" dirty="0"/>
              <a:t>Product 50 is the top-selling product with 59 units.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rgbClr val="37302B"/>
                </a:solidFill>
              </a:defRPr>
            </a:pPr>
            <a:r>
              <a:rPr sz="1600" dirty="0"/>
              <a:t>9 AM is the busiest hour with 78 completed transactions; 7 AM–10 AM is the main peak period.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rgbClr val="37302B"/>
                </a:solidFill>
              </a:defRPr>
            </a:pPr>
            <a:r>
              <a:rPr sz="1600" dirty="0"/>
              <a:t>Weekend Family Combo has the highest promotion-linked revenue at ₹41,437.30.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rgbClr val="37302B"/>
                </a:solidFill>
              </a:defRPr>
            </a:pPr>
            <a:r>
              <a:rPr sz="1600" dirty="0"/>
              <a:t>Silver membership has the highest revenue at ₹47,279.03.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rgbClr val="37302B"/>
                </a:solidFill>
              </a:defRPr>
            </a:pPr>
            <a:r>
              <a:rPr sz="1600" dirty="0"/>
              <a:t>Google Pay is the most-used payment method with 177 completed transactions.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rgbClr val="37302B"/>
                </a:solidFill>
              </a:defRPr>
            </a:pPr>
            <a:r>
              <a:rPr sz="1600" dirty="0"/>
              <a:t>Product 19 has the highest average rating at 4.50/5.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C5568E-9404-3BBC-B309-9A485E15C78F}"/>
              </a:ext>
            </a:extLst>
          </p:cNvPr>
          <p:cNvSpPr txBox="1"/>
          <p:nvPr/>
        </p:nvSpPr>
        <p:spPr>
          <a:xfrm>
            <a:off x="822960" y="4507528"/>
            <a:ext cx="1060704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rgbClr val="37302B"/>
                </a:solidFill>
              </a:defRPr>
            </a:pPr>
            <a:r>
              <a:rPr sz="1600" dirty="0"/>
              <a:t>Peak-hour operations: increase staffing and service capacity during 7–10 AM to reduce waiting time and congestion.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rgbClr val="37302B"/>
                </a:solidFill>
              </a:defRPr>
            </a:pPr>
            <a:r>
              <a:rPr sz="1600" dirty="0"/>
              <a:t>Outlet performance: prioritize </a:t>
            </a:r>
            <a:r>
              <a:rPr sz="1600" dirty="0" err="1"/>
              <a:t>BrewBean</a:t>
            </a:r>
            <a:r>
              <a:rPr sz="1600" dirty="0"/>
              <a:t> Salem for an operational review; also monitor Saibaba Colony and </a:t>
            </a:r>
            <a:r>
              <a:rPr sz="1600" dirty="0" err="1"/>
              <a:t>Tiruppur</a:t>
            </a:r>
            <a:r>
              <a:rPr sz="1600" dirty="0"/>
              <a:t>.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rgbClr val="37302B"/>
                </a:solidFill>
              </a:defRPr>
            </a:pPr>
            <a:r>
              <a:rPr sz="1600" dirty="0"/>
              <a:t>Promotional strategy: continue and optimize Weekend Family Combo and evaluate similar family-oriented offers.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rgbClr val="37302B"/>
                </a:solidFill>
              </a:defRPr>
            </a:pPr>
            <a:r>
              <a:rPr sz="1600" dirty="0"/>
              <a:t>Product strategy: maintain sufficient stock and visibility for high-demand products and promote highly rated products.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rgbClr val="37302B"/>
                </a:solidFill>
              </a:defRPr>
            </a:pPr>
            <a:r>
              <a:rPr sz="1600" dirty="0"/>
              <a:t>Use the interactive dashboard regularly to monitor outlet performance and identify emerging operational gaps.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8785F6-4030-610E-53CE-50E36C3C055F}"/>
              </a:ext>
            </a:extLst>
          </p:cNvPr>
          <p:cNvSpPr txBox="1"/>
          <p:nvPr/>
        </p:nvSpPr>
        <p:spPr>
          <a:xfrm>
            <a:off x="640080" y="381662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C371F"/>
                </a:solidFill>
              </a:defRPr>
            </a:pPr>
            <a:r>
              <a:rPr dirty="0"/>
              <a:t>9. Recommendations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938</Words>
  <Application>Microsoft Office PowerPoint</Application>
  <PresentationFormat>Widescreen</PresentationFormat>
  <Paragraphs>53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VIKRAM K.S.K</cp:lastModifiedBy>
  <cp:revision>2</cp:revision>
  <dcterms:created xsi:type="dcterms:W3CDTF">2013-01-27T09:14:16Z</dcterms:created>
  <dcterms:modified xsi:type="dcterms:W3CDTF">2026-09-10T11:38:27Z</dcterms:modified>
  <cp:category/>
</cp:coreProperties>
</file>